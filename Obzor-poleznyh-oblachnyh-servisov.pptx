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4630400" cy="8229600"/>
  <p:notesSz cx="8229600" cy="14630400"/>
  <p:embeddedFontLst>
    <p:embeddedFont>
      <p:font typeface="Barlow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6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8218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81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81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42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686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66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122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23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225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40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876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93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0" y="984409"/>
            <a:ext cx="914399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Индивидуальный проект: «Облако» в Ин</a:t>
            </a:r>
            <a:r>
              <a:rPr lang="en-US" sz="4300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т</a:t>
            </a: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ернете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5709683" y="6939771"/>
            <a:ext cx="47421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</a:t>
            </a:r>
            <a:r>
              <a:rPr lang="en-US" sz="24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Рук</a:t>
            </a:r>
            <a:r>
              <a:rPr lang="ru-RU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</a:t>
            </a:r>
            <a:r>
              <a:rPr lang="en-US" sz="24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водител</a:t>
            </a:r>
            <a:r>
              <a:rPr lang="ru-RU" sz="24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ь проекта</a:t>
            </a:r>
            <a:endParaRPr lang="ru-RU" sz="2400" dirty="0">
              <a:solidFill>
                <a:srgbClr val="E0E4E6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  <a:p>
            <a:pPr marL="0" indent="0">
              <a:lnSpc>
                <a:spcPts val="3100"/>
              </a:lnSpc>
              <a:buNone/>
            </a:pPr>
            <a:r>
              <a:rPr lang="en-US" sz="24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Шандригоз </a:t>
            </a: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Наталья </a:t>
            </a:r>
            <a:r>
              <a:rPr lang="en-US" sz="24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Николаевна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613553" y="6612571"/>
            <a:ext cx="3016847" cy="276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ru-RU" sz="1900" dirty="0" smtClean="0">
                <a:solidFill>
                  <a:schemeClr val="bg1"/>
                </a:solidFill>
              </a:rPr>
              <a:t>Проект выполнил: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ru-RU" sz="1900" dirty="0" smtClean="0">
                <a:solidFill>
                  <a:schemeClr val="bg1"/>
                </a:solidFill>
                <a:latin typeface="Barlow" panose="020B0604020202020204" charset="0"/>
              </a:rPr>
              <a:t>Студент 115 группы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ru-RU" sz="1900" dirty="0" smtClean="0">
                <a:solidFill>
                  <a:schemeClr val="bg1"/>
                </a:solidFill>
                <a:latin typeface="Barlow" panose="020B0604020202020204" charset="0"/>
              </a:rPr>
              <a:t>Чебан Роман Евгеньевич</a:t>
            </a:r>
            <a:endParaRPr lang="en-US" sz="1900" dirty="0">
              <a:solidFill>
                <a:schemeClr val="bg1"/>
              </a:solidFill>
              <a:latin typeface="Barlow" panose="020B060402020202020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2833496" y="7729870"/>
            <a:ext cx="1796903" cy="499730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52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4740" y="714018"/>
            <a:ext cx="7594521" cy="12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Обзор полезных облачных сервисов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318977" y="2105879"/>
            <a:ext cx="8346558" cy="46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В современном мире информационные технологии играют ключевую роль в различных сферах жизни. Облачные вычисления стали неотъемлемой частью цифровой инфраструктуры, предоставляя пользователям доступ к широкому спектру сервисов и ресурсов через Интернет. Облачные сервисы стали доступными и удобными для широкого круга пользователей, от индивидуальных потребителей до крупных корпораций. Целью данной работы является обзор полезных облачных сервисов, анализ их основных характеристик, преимуществ и недостатков. В рамках исследования будут рассмотрены различные типы облачных сервисов, такие как облачные хранилища данных, сервисы для совместной работы, платформы для разработки и тестирования приложений, а также сервисы для резервного копирования и восстановления данных.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239560" y="7152323"/>
            <a:ext cx="1273850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endParaRPr lang="en-US" sz="2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300" y="999768"/>
            <a:ext cx="11470600" cy="546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Понятие "облако" и его основные характеристики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0" y="2062162"/>
            <a:ext cx="7294145" cy="49906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62731" y="2017871"/>
            <a:ext cx="6386989" cy="5034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 контексте информационных технологий "облако" - это модель предоставления вычислительных ресурсов по запросу через Интернет. Вместо того чтобы владеть и управлять физическими серверами, хранилищами данных и программным обеспечением, пользователи могут получать доступ к этим ресурсам через сеть. Основные характеристики облачных вычислений: </a:t>
            </a:r>
            <a:r>
              <a:rPr lang="en-US" sz="20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Самообслуживание по требованию</a:t>
            </a: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Пользователи могут самостоятельно получать доступ к вычислительным ресурсам. </a:t>
            </a:r>
            <a:r>
              <a:rPr lang="en-US" sz="20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Широкий сетевой доступ</a:t>
            </a: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Возможность доступа к облачным ресурсам через стандартные сетевые механизмы с различных устройств. </a:t>
            </a:r>
            <a:r>
              <a:rPr lang="en-US" sz="20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Объединение ресурсов</a:t>
            </a: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Ресурсы поставщика объединяются для обслуживания множества потребителей. </a:t>
            </a:r>
            <a:r>
              <a:rPr lang="en-US" sz="20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Быстрая эластичность</a:t>
            </a: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Возможность быстрого масштабирования ресурсов в зависимости от нагрузки. </a:t>
            </a:r>
            <a:r>
              <a:rPr lang="en-US" sz="20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Измеряемое обслуживание</a:t>
            </a: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Использование ресурсов отслеживается и контролируется.</a:t>
            </a:r>
            <a:endParaRPr lang="en-US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886660" y="7793665"/>
            <a:ext cx="1743740" cy="435935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994" y="1033939"/>
            <a:ext cx="12165568" cy="569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Преимущества использования облачных сервисов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94" y="2140744"/>
            <a:ext cx="6348293" cy="43435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70822" y="1854160"/>
            <a:ext cx="7243010" cy="4916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Облачные сервисы предоставляют множество преимуществ для бизнеса и частных лиц. Они позволяют компаниям избежать значительных капиталовложений в оборудование и инфраструктуру, так как оплата производится только за фактически используемые ресурсы. Ресурсы могут быть быстро масштабированы в соответствии с потребностями бизнеса, обеспечивая гибкость и адаптивность к изменяющимся требованиям. Облачные сервисы обеспечивают высокую доступность данных и приложений, храня данные в распределенных центрах обработки данных, что обеспечивает их сохранность. Облачные платформы предоставляют инструменты и сервисы, которые упрощают и ускоряют разработку и развертывание приложений. Доступ к данным и приложениям возможен из любой точки мира, где есть доступ в Интернет.</a:t>
            </a:r>
            <a:endParaRPr lang="en-US" sz="23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886660" y="7793665"/>
            <a:ext cx="1743740" cy="435935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429" y="989052"/>
            <a:ext cx="12168188" cy="609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Недостатки использования облачных сервисов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88759" y="2125742"/>
            <a:ext cx="6990346" cy="491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Для доступа к облачным сервисам необходимо стабильное Интернет-соединение. Хранение данных в облаке вызывает опасения по поводу их безопасности и конфиденциальности, поэтому необходимо тщательно выбирать облачного провайдера и проверять его меры безопасности. При использовании облачных сервисов компании теряют контроль над физической инфраструктурой. Могут возникать проблемы совместимости между различными облачными сервисами и локальными системами. Перенос данных и приложений между разными облачными провайдерами может быть сложным и дорогостоящим. В случае перебоев в работе облачного провайдера, доступ к данным и приложениям может быть ограничен.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592" y="2175153"/>
            <a:ext cx="6278999" cy="429613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2886660" y="7793665"/>
            <a:ext cx="1743740" cy="435935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907" y="613410"/>
            <a:ext cx="7569637" cy="61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IaaS (Infrastructure as a Service)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1" y="1772890"/>
            <a:ext cx="6689851" cy="4134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94095" y="1619956"/>
            <a:ext cx="7595072" cy="525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IaaS предоставляет базовую инфраструктуру: виртуальные серверы, хранилища, сети и другие вычислительные ресурсы. Пользователь имеет высокий уровень контроля над инфраструктурой, может устанавливать и настраивать операционные системы, приложения и другие компоненты. Подходит для компаний, которым требуется гибкость и контроль над инфраструктурой, для разработки и тестирования приложений, а также для создания виртуальных дата-центров.</a:t>
            </a:r>
            <a:endParaRPr lang="en-US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886660" y="7793665"/>
            <a:ext cx="1743740" cy="435935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264" y="612219"/>
            <a:ext cx="6478191" cy="61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PaaS (Platform as a Service)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9" y="1676043"/>
            <a:ext cx="6885605" cy="42555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90346" y="1676043"/>
            <a:ext cx="7257831" cy="5013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PaaS предоставляет платформу для разработки, развертывания и управления приложениями. Включает в себя операционные системы, среды выполнения, базы данных и другие инструменты. Пользователь имеет меньше контроля, чем в IaaS, но больше, чем в SaaS. Он может сосредоточиться на разработке приложений, не беспокоясь об управлении инфраструктурой. Подходит для разработчиков, которым необходимо быстро создавать и развертывать приложения, а также для компаний, которые хотят упростить управление инфраструктурой.</a:t>
            </a:r>
            <a:endParaRPr lang="en-US" sz="2800" dirty="0"/>
          </a:p>
        </p:txBody>
      </p:sp>
      <p:sp>
        <p:nvSpPr>
          <p:cNvPr id="6" name="Text 1"/>
          <p:cNvSpPr/>
          <p:nvPr/>
        </p:nvSpPr>
        <p:spPr>
          <a:xfrm>
            <a:off x="2234728" y="5406867"/>
            <a:ext cx="2472928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2886660" y="7793665"/>
            <a:ext cx="1743740" cy="435935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907" y="791408"/>
            <a:ext cx="6595467" cy="61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SaaS (Software as a Service)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1" y="1983787"/>
            <a:ext cx="6991034" cy="4320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4727" y="2007688"/>
            <a:ext cx="7294282" cy="5078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SaaS предоставляет готовые приложения, доступные через Интернет. Пользователь не управляет инфраструктурой или платформой, а просто использует приложение. Пользователь имеет минимальный контроль, так как приложение полностью управляется поставщиком услуг. Подходит для компаний и частных лиц, которым необходимо использовать готовые приложения без необходимости управления инфраструктурой или платформой.</a:t>
            </a:r>
            <a:endParaRPr lang="en-US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886660" y="7793665"/>
            <a:ext cx="1743740" cy="435935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626751"/>
            <a:ext cx="129023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Основные угрозы безопасности облачных данных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1" y="3423302"/>
            <a:ext cx="1463040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Утечки данных: Несанкционированное раскрытие конфиденциальной информации.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" y="3973473"/>
            <a:ext cx="1463039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Несанкционированный доступ: Получение доступа к данным лицами, не имеющими на это прав.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" y="4454843"/>
            <a:ext cx="1463040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Кибер атаки: Атаки, направленные на нарушение целостности, доступности и конфиденциальности данных.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" y="5331262"/>
            <a:ext cx="1463039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Недостаточная защита API: Уязвимости в интерфейсах программирования приложений (API), используемых для доступа к облачным сервисам.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" y="6207681"/>
            <a:ext cx="1463039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Человеческий фактор: Ошибки пользователей, приводящие к утечкам или потере данных.</a:t>
            </a:r>
            <a:endParaRPr lang="en-US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2886660" y="7793665"/>
            <a:ext cx="1743740" cy="435935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574602"/>
            <a:ext cx="1097803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Меры безопасности облачных данных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0" y="2754154"/>
            <a:ext cx="1463039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Шифрование данных: Преобразование данных в нечитаемый формат для защиты от несанкционированного доступа.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630573"/>
            <a:ext cx="1463039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Контроль доступа: Ограничение доступа к данным на основе ролей и прав пользователей.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" y="4111943"/>
            <a:ext cx="146303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Аутентификация и авторизация: Проверка подлинности пользователей и предоставление им соответствующих прав доступа.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4988362"/>
            <a:ext cx="1463040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Резервное копирование и восстановление данных: Создание резервных копий данных для восстановления в случае потери или повреждения.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" y="5864781"/>
            <a:ext cx="146303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Мониторинг и аудит: Отслеживание активности пользователей и анализ журналов для выявления подозрительной активности.</a:t>
            </a:r>
            <a:endParaRPr lang="en-US" sz="24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2886660" y="7793665"/>
            <a:ext cx="1743740" cy="435935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708" y="559832"/>
            <a:ext cx="8839319" cy="56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Дополнительные меры безопасности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0" y="1495425"/>
            <a:ext cx="7916779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Соблюдение норм безопасности: Соблюдение стандартов и требований безопасности, таких как GDPR, HIPAA и другие.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2212896"/>
            <a:ext cx="7916779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Безопасность API: Защита API с помощью аутентификации, авторизации и шифрования.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2930366"/>
            <a:ext cx="7916779" cy="97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Обучение персонала: Повышение осведомленности сотрудников о правилах безопасности и методах защиты данных.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971211"/>
            <a:ext cx="7916779" cy="1940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Ответственность провайдера: Понимание, что безопасность облачных сервисов-это модель долевой ответственности. Провайдер отвечает за безопасность облака, то есть за свой физический центр обработки данных, другие активы, такие как подводные кабели, и логическую облачную инфраструктуру.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5982176"/>
            <a:ext cx="7916779" cy="161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Безопасность самих данных: Начинается с качественного шифрования данных как в состоянии покоя, так и регулярное создание резервных копий данных для восстановления в случае потери (или вымогательств с применением шифровальщиков).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875" y="1630084"/>
            <a:ext cx="6360795" cy="4352092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2886660" y="7793665"/>
            <a:ext cx="1743740" cy="435935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925711"/>
            <a:ext cx="741592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ПРАКТИЧЕСКИЙ ОБЗОР ПОЛЕЗНЫХ ОБЛАЧНЫХ СЕРВИСОВ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5847907" y="3353394"/>
            <a:ext cx="8537944" cy="441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Облачные сервисы стали неотъемлемой частью нашей цифровой жизни, предоставляя удобный доступ к данным и приложениям из любой точки мира. Однако, с ростом числа предложений на рынке, выбор подходящего облачного сервиса может оказаться сложной задачей. Этот обзор призван помочь вам разобраться в многообразии облачных решений и сделать осознанный выбор, соответствующий вашим потребностям. Мы рассмотрим ключевые аспекты, типы сервисов, их преимущества и недостатки, а также предоставим инструмент для наглядного сравнения.</a:t>
            </a:r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825664" y="7772400"/>
            <a:ext cx="1804736" cy="457200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91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611511"/>
            <a:ext cx="55645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Постановка задачи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265815" y="2667595"/>
            <a:ext cx="8014150" cy="3950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Целью данного проекта является создание инструмента, который поможет пользователям разобраться в многообразии облачных сервисов и сделать осознанный выбор. Целевая аудитория включает в себя как частных пользователей, так и представителей бизнеса, которые заинтересованы в использовании облачных сервисов. Пользователи нуждаются в чёткой и понятной информации о различных типах облачных сервисов, их преимуществах и недостатках, а также в возможности сравнить их по ключевым критериям.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729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0108" y="3749040"/>
            <a:ext cx="12013406" cy="682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0108" y="4800243"/>
            <a:ext cx="12910185" cy="275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endParaRPr lang="en-US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825664" y="7772400"/>
            <a:ext cx="1804736" cy="457200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679" y="0"/>
            <a:ext cx="6730409" cy="825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49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13422"/>
            <a:ext cx="129023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Характеристика отдельных структурных элементов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578775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Чек-лист включает в себя следующие критерии сравнения облачных сервисов: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3251478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Что такое облако?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4037" y="3732848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Безопасность в облаке.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4037" y="4214217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Типы облачных сервисов (облачные хранилища данных, облачные вычисления, облачные платформы).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4037" y="509063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Сервисы для командной работы.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4037" y="557200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Сравнение облачных сервисов.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4037" y="605337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Преимущества и недостатки.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4037" y="6726079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Эти критерии были выбраны, поскольку они охватывают основные аспекты, которые необходимо учитывать при выборе облачного сервиса.</a:t>
            </a:r>
            <a:endParaRPr lang="en-US" sz="2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2825664" y="7772400"/>
            <a:ext cx="1804736" cy="457200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87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678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937" y="3811548"/>
            <a:ext cx="12968526" cy="1319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Инструменты и методы визуального проектирования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830937" y="5486876"/>
            <a:ext cx="12968526" cy="189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Canva:</a:t>
            </a: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использовалась как основной инструмент для создания чек-листа благодаря её интуитивно понятному интерфейсу, широкому набору шаблонов и элементов дизайна. Функции Canva, такие как перетаскивание, редактирование текста, добавление изображений и иконок, использовались для создания визуально привлекательного и удобного чек-листа. Шаблоны Canva были адаптированы для создания структуры чек-листа, включающей вопросы и утверждения, а также визуальные элементы для наглядности.</a:t>
            </a:r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825664" y="7772400"/>
            <a:ext cx="1804736" cy="457200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5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268611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Цветовая палитра и типографика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010495"/>
            <a:ext cx="7415927" cy="3950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Была выбрана нейтральная цветовая палитра с акцентами для выделения ключевых элементов. Цвета использовались для создания контраста и улучшения читаемости чек-листа. Использовались легко читаемые шрифты для основного текста и заголовков. Размер и стиль шрифтов были выбраны для обеспечения комфортного чтения на разных устройствах. Иконки использовались для визуализации категорий и критериев сравнения облачных сервисов. Иконки помогали сделать чек-лист более наглядным и понятным.</a:t>
            </a:r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825664" y="7772400"/>
            <a:ext cx="1804736" cy="457200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91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466136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Описание структуры и дизайна чек-листа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208020"/>
            <a:ext cx="7415927" cy="3555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Чек-лист организован в виде списка вопросов и утверждений, разделённых на логические блоки. Каждый блок посвящён определённой теме, связанной с облачными сервисами (например, "Что такое облако?", "Безопасность в облаке", "Типы облачных сервисов"). Вопросы и утверждения сформулированы таким образом, чтобы помочь пользователю оценить различные аспекты облачных сервисов. Чек-лист имеет простой и лаконичный дизайн, чтобы не отвлекать пользователя от основной задачи.</a:t>
            </a:r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825664" y="7772400"/>
            <a:ext cx="1804736" cy="457200"/>
          </a:xfrm>
          <a:prstGeom prst="rect">
            <a:avLst/>
          </a:prstGeom>
          <a:solidFill>
            <a:srgbClr val="0706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33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728186"/>
            <a:ext cx="741592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Оценка удобства использования и визуального восприятия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2847383"/>
            <a:ext cx="7415927" cy="434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Тестирование проводилось с участием нескольких </a:t>
            </a:r>
            <a:r>
              <a:rPr lang="en-US" sz="24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студент</a:t>
            </a:r>
            <a:r>
              <a:rPr lang="ru-RU" sz="24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ов</a:t>
            </a:r>
            <a:r>
              <a:rPr lang="en-US" sz="24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</a:t>
            </a: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Студентам было предложено оценить удобство использования чек-листа. Оценивались такие аспекты, как понятность вопросов, логичность структуры, удобство навигации. Оценивалась читаемость текста, контрастность цветов, понятность иконок и общая визуальная привлекательность чек-листа. Тестирование проводилось на разных устройствах (компьютер, ноутбук, смартфон), чтобы убедиться в корректном отображении чек-листа на разных экранах.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72172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268611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Результаты тестирования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6" y="2446970"/>
            <a:ext cx="7415927" cy="3950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Большинство пользователей оценили удобство использования чек-листа на 4 или 5 баллов. Пользователи отметили понятность вопросов и логичную структуру чек-листа. Некоторые пользователи предложили добавить интерактивные элементы, такие как ссылки на подробную информацию о облачных сервисах. Визуальный дизайн чек-листа был оценён как привлекательный и понятный. Пользователи отметили хорошую читаемость текста и понятность иконок. Некоторые пользователи предложили добавить больше контраста между цветами.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324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01893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ЗАКЛЮЧЕНИЕ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1704737"/>
            <a:ext cx="7415927" cy="5135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В ходе работы над проектом был проведен анализ существующих облачных сервисов и определены ключевые критерии, которые необходимо учитывать при выборе подходящего варианта. Было установлено, что многообразие предложений на рынке затрудняет процесс принятия решения для пользователей с различными потребностями. Для решения этой проблемы был разработан инструмент, позволяющий наглядно сравнить основные характеристики облачных сервисов. Проведенное тестирование показало, что разработанный инструмент эффективно справляется со своей задачей, помогая пользователям быстро и легко оценить различные варианты и выбрать наиболее подходящий для их нужд.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9297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1649</Words>
  <Application>Microsoft Office PowerPoint</Application>
  <PresentationFormat>Произвольный</PresentationFormat>
  <Paragraphs>84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Spline Sans Bold</vt:lpstr>
      <vt:lpstr>Barlow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Hi-Tech</cp:lastModifiedBy>
  <cp:revision>6</cp:revision>
  <dcterms:created xsi:type="dcterms:W3CDTF">2025-04-08T18:00:18Z</dcterms:created>
  <dcterms:modified xsi:type="dcterms:W3CDTF">2025-04-08T18:50:30Z</dcterms:modified>
</cp:coreProperties>
</file>